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256" r:id="rId2"/>
    <p:sldId id="257" r:id="rId3"/>
    <p:sldId id="258" r:id="rId4"/>
    <p:sldId id="259" r:id="rId5"/>
    <p:sldId id="28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  <p:sldId id="277" r:id="rId25"/>
    <p:sldId id="279" r:id="rId26"/>
    <p:sldId id="280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39"/>
    <p:restoredTop sz="94681"/>
  </p:normalViewPr>
  <p:slideViewPr>
    <p:cSldViewPr snapToGrid="0">
      <p:cViewPr varScale="1">
        <p:scale>
          <a:sx n="107" d="100"/>
          <a:sy n="107" d="100"/>
        </p:scale>
        <p:origin x="9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601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33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834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949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10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0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40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2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268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8465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5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6178FC9F-896B-9442-8D41-B37B5AFF66D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D6DAF86-ED71-FA45-BD16-010F7A5D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5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lenium.dev/" TargetMode="Externa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selenium.dev/selenium/docs/api/java/org/openqa/selenium/WebDriver.Navigation.html#to(java.lang.String)" TargetMode="Externa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9C3A-4559-E760-0842-69696CF2C9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Selenium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2A80D7-D63E-8732-D338-8D046D7CFA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87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BF8E-6E30-1E92-FC3A-D8279E566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3616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89DDF-6E7B-E4ED-A5A0-1BCFFD8785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320800"/>
            <a:ext cx="10363826" cy="4470399"/>
          </a:xfrm>
          <a:ln>
            <a:solidFill>
              <a:srgbClr val="00B0F0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Automation: </a:t>
            </a:r>
            <a:r>
              <a:rPr lang="en-US" dirty="0"/>
              <a:t>Process of converting TC’s to Test scripts using Tool</a:t>
            </a:r>
          </a:p>
          <a:p>
            <a:pPr marL="0" indent="0">
              <a:buNone/>
            </a:pPr>
            <a:r>
              <a:rPr lang="en-US" b="1" dirty="0"/>
              <a:t>Selenium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https://www.selenium.dev/</a:t>
            </a:r>
            <a:r>
              <a:rPr lang="en-US" dirty="0"/>
              <a:t> </a:t>
            </a:r>
          </a:p>
          <a:p>
            <a:r>
              <a:rPr lang="en-US" dirty="0"/>
              <a:t> Applicable only to Web Applications</a:t>
            </a:r>
          </a:p>
          <a:p>
            <a:pPr marL="0" indent="0">
              <a:buNone/>
            </a:pPr>
            <a:r>
              <a:rPr lang="en-US" dirty="0"/>
              <a:t>Advantages:</a:t>
            </a:r>
          </a:p>
          <a:p>
            <a:pPr marL="457200" indent="-457200">
              <a:buAutoNum type="arabicPeriod"/>
            </a:pPr>
            <a:r>
              <a:rPr lang="en-US" dirty="0"/>
              <a:t>Free to use, No license required</a:t>
            </a:r>
          </a:p>
          <a:p>
            <a:pPr marL="457200" indent="-457200">
              <a:buAutoNum type="arabicPeriod"/>
            </a:pPr>
            <a:r>
              <a:rPr lang="en-US" dirty="0"/>
              <a:t>Open Source</a:t>
            </a:r>
          </a:p>
          <a:p>
            <a:pPr marL="457200" indent="-457200">
              <a:buAutoNum type="arabicPeriod"/>
            </a:pPr>
            <a:r>
              <a:rPr lang="en-US" dirty="0"/>
              <a:t>Cross Browser Testing (</a:t>
            </a:r>
            <a:r>
              <a:rPr lang="en-US" dirty="0" err="1"/>
              <a:t>chrome,firefox,edge,safari</a:t>
            </a:r>
            <a:r>
              <a:rPr lang="en-US" dirty="0"/>
              <a:t>)</a:t>
            </a:r>
          </a:p>
          <a:p>
            <a:pPr marL="457200" indent="-457200">
              <a:buAutoNum type="arabicPeriod"/>
            </a:pPr>
            <a:r>
              <a:rPr lang="en-US" dirty="0"/>
              <a:t>Cross platform/OS  Testing(IOS, Windows)</a:t>
            </a:r>
          </a:p>
          <a:p>
            <a:pPr marL="457200" indent="-457200">
              <a:buAutoNum type="arabicPeriod"/>
            </a:pPr>
            <a:r>
              <a:rPr lang="en-US" dirty="0"/>
              <a:t>TDD: Integrate Selenium with multiple frameworks (TestNG/</a:t>
            </a:r>
            <a:r>
              <a:rPr lang="en-US" dirty="0" err="1"/>
              <a:t>pytest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57200" indent="-457200">
              <a:buAutoNum type="arabicPeriod"/>
            </a:pPr>
            <a:r>
              <a:rPr lang="en-US" dirty="0"/>
              <a:t>BDD: Integrate Selenium with multiple framework (cucumber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57200" indent="-457200">
              <a:buAutoNum type="arabicPeriod"/>
            </a:pPr>
            <a:r>
              <a:rPr lang="en-US" dirty="0"/>
              <a:t>Can integrate CI/CD tools with selenium (Jenkins)</a:t>
            </a:r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770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B849E-5F5C-1421-B8B8-4E4386FCF8D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087" y="578932"/>
            <a:ext cx="10363826" cy="54764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Disadvantages:</a:t>
            </a:r>
          </a:p>
          <a:p>
            <a:r>
              <a:rPr lang="en-US" dirty="0"/>
              <a:t>Cannot test API/Mobile Testing</a:t>
            </a:r>
          </a:p>
          <a:p>
            <a:r>
              <a:rPr lang="en-US" dirty="0"/>
              <a:t>No performance Testing possible</a:t>
            </a:r>
          </a:p>
          <a:p>
            <a:r>
              <a:rPr lang="en-US" dirty="0"/>
              <a:t>No Security</a:t>
            </a:r>
          </a:p>
          <a:p>
            <a:r>
              <a:rPr lang="en-US" dirty="0"/>
              <a:t>No HW testing</a:t>
            </a:r>
          </a:p>
          <a:p>
            <a:r>
              <a:rPr lang="en-US" dirty="0"/>
              <a:t>Can’t automate QR codes/Captcha( Request develop team to provide single captcha),chat bots, verification, OTP (Request develop team to provide single OTP)</a:t>
            </a:r>
          </a:p>
          <a:p>
            <a:r>
              <a:rPr lang="en-US" dirty="0"/>
              <a:t>No Desktop Applications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Selenium is an API(.jar)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134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FC5FE-09AA-DC29-7D4C-A4C3341BD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76808"/>
          </a:xfrm>
        </p:spPr>
        <p:txBody>
          <a:bodyPr/>
          <a:lstStyle/>
          <a:p>
            <a:r>
              <a:rPr lang="en-US" dirty="0"/>
              <a:t>Selenium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F8C13-08DE-1031-C253-22202AFF38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524000"/>
            <a:ext cx="10363826" cy="426719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Testing used Version: 4.x(4.20 and above)</a:t>
            </a:r>
          </a:p>
          <a:p>
            <a:pPr marL="0" indent="0">
              <a:buNone/>
            </a:pPr>
            <a:r>
              <a:rPr lang="en-US" dirty="0"/>
              <a:t>Current released: 4.39(6</a:t>
            </a:r>
            <a:r>
              <a:rPr lang="en-US" baseline="30000" dirty="0"/>
              <a:t>th</a:t>
            </a:r>
            <a:r>
              <a:rPr lang="en-US" dirty="0"/>
              <a:t> Dec 2025)</a:t>
            </a:r>
          </a:p>
          <a:p>
            <a:pPr marL="0" indent="0">
              <a:buNone/>
            </a:pPr>
            <a:r>
              <a:rPr lang="en-US" dirty="0"/>
              <a:t>3.141.59(old well used version, currently not using for current projects)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org.openqa.selenium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RemoteWebDriver</a:t>
            </a:r>
            <a:r>
              <a:rPr lang="en-US" dirty="0"/>
              <a:t> class is back bone of selenium</a:t>
            </a:r>
          </a:p>
        </p:txBody>
      </p:sp>
    </p:spTree>
    <p:extLst>
      <p:ext uri="{BB962C8B-B14F-4D97-AF65-F5344CB8AC3E}">
        <p14:creationId xmlns:p14="http://schemas.microsoft.com/office/powerpoint/2010/main" val="2915856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548C3-7E3E-9254-261E-2139165FF3F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558140"/>
            <a:ext cx="10363826" cy="5233059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 err="1"/>
              <a:t>webDriver</a:t>
            </a:r>
            <a:r>
              <a:rPr lang="en-US" dirty="0"/>
              <a:t> Architecture</a:t>
            </a:r>
          </a:p>
          <a:p>
            <a:pPr marL="457200" indent="-457200">
              <a:buAutoNum type="arabicPeriod"/>
            </a:pPr>
            <a:r>
              <a:rPr lang="en-US" dirty="0"/>
              <a:t>Search Context</a:t>
            </a:r>
          </a:p>
          <a:p>
            <a:pPr marL="457200" indent="-457200">
              <a:buAutoNum type="arabicPeriod"/>
            </a:pPr>
            <a:r>
              <a:rPr lang="en-US" dirty="0" err="1"/>
              <a:t>webDriver</a:t>
            </a:r>
            <a:r>
              <a:rPr lang="en-US" dirty="0"/>
              <a:t> Methods &amp; Interfaces</a:t>
            </a:r>
          </a:p>
          <a:p>
            <a:pPr marL="457200" indent="-457200">
              <a:buAutoNum type="arabicPeriod"/>
            </a:pPr>
            <a:r>
              <a:rPr lang="en-US" dirty="0" err="1"/>
              <a:t>webElement</a:t>
            </a:r>
            <a:r>
              <a:rPr lang="en-US" dirty="0"/>
              <a:t> Methods</a:t>
            </a:r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255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012B7-6796-5B7A-4CD3-AD1874226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D136E9-7DA0-7779-6989-552E4CB1BB7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165005" y="2366963"/>
            <a:ext cx="7861990" cy="342423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1DAB16-E1E7-FEC9-87EF-F6D4FD921B72}"/>
              </a:ext>
            </a:extLst>
          </p:cNvPr>
          <p:cNvSpPr txBox="1"/>
          <p:nvPr/>
        </p:nvSpPr>
        <p:spPr>
          <a:xfrm>
            <a:off x="1959429" y="6008914"/>
            <a:ext cx="4346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=&gt; interface</a:t>
            </a:r>
          </a:p>
          <a:p>
            <a:r>
              <a:rPr lang="en-US" dirty="0"/>
              <a:t>C =&gt; Class</a:t>
            </a:r>
          </a:p>
        </p:txBody>
      </p:sp>
    </p:spTree>
    <p:extLst>
      <p:ext uri="{BB962C8B-B14F-4D97-AF65-F5344CB8AC3E}">
        <p14:creationId xmlns:p14="http://schemas.microsoft.com/office/powerpoint/2010/main" val="3655629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068B-3E0A-1DB5-CA48-CC8E78B70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CB3B1-FE01-1F19-8973-C127348E17B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SearchContext</a:t>
            </a:r>
            <a:r>
              <a:rPr lang="en-US" dirty="0"/>
              <a:t>(I)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findElement</a:t>
            </a:r>
            <a:r>
              <a:rPr lang="en-US" dirty="0"/>
              <a:t>(By) =&gt; </a:t>
            </a:r>
            <a:r>
              <a:rPr lang="en-US" dirty="0" err="1"/>
              <a:t>org.openqa.selenium.SearchContext.findElement</a:t>
            </a:r>
            <a:r>
              <a:rPr lang="en-US" dirty="0"/>
              <a:t>(By)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findElements</a:t>
            </a:r>
            <a:r>
              <a:rPr lang="en-US" dirty="0"/>
              <a:t>(By) =&gt; </a:t>
            </a:r>
            <a:r>
              <a:rPr lang="en-US" dirty="0" err="1"/>
              <a:t>org.openqa.selenium.SearchContext.findElements</a:t>
            </a:r>
            <a:r>
              <a:rPr lang="en-US" dirty="0"/>
              <a:t>(By)</a:t>
            </a:r>
          </a:p>
          <a:p>
            <a:r>
              <a:rPr lang="en-US" dirty="0"/>
              <a:t>WebDriver(I) =&gt;</a:t>
            </a:r>
            <a:r>
              <a:rPr lang="en-US" dirty="0" err="1"/>
              <a:t>org.openqa.selenium.WebDriver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Navigation (I) =&gt; </a:t>
            </a:r>
            <a:r>
              <a:rPr lang="en-US" dirty="0" err="1"/>
              <a:t>org.openqa.selenium.WebDriver.Navigation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Options (I) =&gt; </a:t>
            </a:r>
            <a:r>
              <a:rPr lang="en-US" dirty="0" err="1"/>
              <a:t>org.openqa.selenium.WebDriver.Options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TargetLocator</a:t>
            </a:r>
            <a:r>
              <a:rPr lang="en-US" dirty="0"/>
              <a:t> (I) =&gt; </a:t>
            </a:r>
            <a:r>
              <a:rPr lang="en-US" dirty="0" err="1"/>
              <a:t>org.openqa.selenium.WebDriver.TargetLocator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Timeouts (I) =&gt; </a:t>
            </a:r>
            <a:r>
              <a:rPr lang="en-US" dirty="0" err="1"/>
              <a:t>org.openqa.selenium.WebDriver.Timeouts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Window (I) =&gt; </a:t>
            </a:r>
            <a:r>
              <a:rPr lang="en-US" dirty="0" err="1"/>
              <a:t>org.openqa.selenium.WebDriver.Window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064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A35C6-4484-7DC3-A2B4-0227332C9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0977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Webdriver</a:t>
            </a:r>
            <a:r>
              <a:rPr lang="en-US" dirty="0"/>
              <a:t>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A32A7-4782-DEBC-ADB9-240A018D8E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413164"/>
            <a:ext cx="10363826" cy="4378036"/>
          </a:xfrm>
        </p:spPr>
        <p:txBody>
          <a:bodyPr>
            <a:normAutofit fontScale="40000" lnSpcReduction="2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WebDriver(I)  =&gt;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5 sub interfaces &amp; 13 methods</a:t>
            </a:r>
          </a:p>
          <a:p>
            <a:r>
              <a:rPr lang="en-US" dirty="0">
                <a:solidFill>
                  <a:srgbClr val="0070C0"/>
                </a:solidFill>
              </a:rPr>
              <a:t>	  Navigation(I)</a:t>
            </a:r>
          </a:p>
          <a:p>
            <a:r>
              <a:rPr lang="en-US" dirty="0">
                <a:solidFill>
                  <a:srgbClr val="0070C0"/>
                </a:solidFill>
              </a:rPr>
              <a:t>	  Options(I)</a:t>
            </a:r>
          </a:p>
          <a:p>
            <a:r>
              <a:rPr lang="en-US" dirty="0">
                <a:solidFill>
                  <a:srgbClr val="0070C0"/>
                </a:solidFill>
              </a:rPr>
              <a:t>	  </a:t>
            </a:r>
            <a:r>
              <a:rPr lang="en-US" dirty="0" err="1">
                <a:solidFill>
                  <a:srgbClr val="0070C0"/>
                </a:solidFill>
              </a:rPr>
              <a:t>TargetLocator</a:t>
            </a:r>
            <a:r>
              <a:rPr lang="en-US" dirty="0">
                <a:solidFill>
                  <a:srgbClr val="0070C0"/>
                </a:solidFill>
              </a:rPr>
              <a:t>(I)</a:t>
            </a:r>
          </a:p>
          <a:p>
            <a:r>
              <a:rPr lang="en-US" dirty="0">
                <a:solidFill>
                  <a:srgbClr val="0070C0"/>
                </a:solidFill>
              </a:rPr>
              <a:t>	  Timeouts(I)</a:t>
            </a:r>
          </a:p>
          <a:p>
            <a:r>
              <a:rPr lang="en-US" dirty="0">
                <a:solidFill>
                  <a:srgbClr val="0070C0"/>
                </a:solidFill>
              </a:rPr>
              <a:t>	  Window(I)</a:t>
            </a:r>
          </a:p>
          <a:p>
            <a:r>
              <a:rPr lang="en-US" dirty="0">
                <a:solidFill>
                  <a:srgbClr val="0070C0"/>
                </a:solidFill>
              </a:rPr>
              <a:t>get(String): </a:t>
            </a:r>
            <a:r>
              <a:rPr lang="en-US" dirty="0"/>
              <a:t>void</a:t>
            </a:r>
          </a:p>
          <a:p>
            <a:pPr marL="0" indent="0">
              <a:buNone/>
            </a:pPr>
            <a:r>
              <a:rPr lang="en-US" dirty="0"/>
              <a:t>This will open the URL </a:t>
            </a:r>
          </a:p>
          <a:p>
            <a:r>
              <a:rPr lang="en-US" dirty="0">
                <a:solidFill>
                  <a:srgbClr val="0070C0"/>
                </a:solidFill>
              </a:rPr>
              <a:t>close():void</a:t>
            </a:r>
          </a:p>
          <a:p>
            <a:pPr marL="0" indent="0">
              <a:buNone/>
            </a:pPr>
            <a:r>
              <a:rPr lang="en-US" dirty="0"/>
              <a:t>This will close the window or tab of browser</a:t>
            </a:r>
          </a:p>
          <a:p>
            <a:r>
              <a:rPr lang="en-US" dirty="0">
                <a:solidFill>
                  <a:srgbClr val="0070C0"/>
                </a:solidFill>
              </a:rPr>
              <a:t>quit():void</a:t>
            </a:r>
          </a:p>
          <a:p>
            <a:pPr marL="0" indent="0">
              <a:buNone/>
            </a:pPr>
            <a:r>
              <a:rPr lang="en-US" dirty="0"/>
              <a:t>This will close the window /windows/ tabs are opened during the session</a:t>
            </a:r>
          </a:p>
          <a:p>
            <a:r>
              <a:rPr lang="en-US" dirty="0" err="1">
                <a:solidFill>
                  <a:srgbClr val="0070C0"/>
                </a:solidFill>
              </a:rPr>
              <a:t>getCurrentUrl</a:t>
            </a:r>
            <a:r>
              <a:rPr lang="en-US" dirty="0">
                <a:solidFill>
                  <a:srgbClr val="0070C0"/>
                </a:solidFill>
              </a:rPr>
              <a:t>():  String</a:t>
            </a:r>
          </a:p>
          <a:p>
            <a:r>
              <a:rPr lang="en-US" dirty="0" err="1">
                <a:solidFill>
                  <a:srgbClr val="0070C0"/>
                </a:solidFill>
              </a:rPr>
              <a:t>getTitle</a:t>
            </a:r>
            <a:r>
              <a:rPr lang="en-US" dirty="0">
                <a:solidFill>
                  <a:srgbClr val="0070C0"/>
                </a:solidFill>
              </a:rPr>
              <a:t>(): String</a:t>
            </a:r>
          </a:p>
          <a:p>
            <a:r>
              <a:rPr lang="en-US" dirty="0" err="1">
                <a:solidFill>
                  <a:srgbClr val="0070C0"/>
                </a:solidFill>
              </a:rPr>
              <a:t>getPageSource</a:t>
            </a:r>
            <a:r>
              <a:rPr lang="en-US" dirty="0">
                <a:solidFill>
                  <a:srgbClr val="0070C0"/>
                </a:solidFill>
              </a:rPr>
              <a:t>(): String</a:t>
            </a:r>
          </a:p>
          <a:p>
            <a:r>
              <a:rPr lang="en-US" dirty="0" err="1">
                <a:solidFill>
                  <a:srgbClr val="0070C0"/>
                </a:solidFill>
              </a:rPr>
              <a:t>getWindowHandle</a:t>
            </a:r>
            <a:r>
              <a:rPr lang="en-US" dirty="0">
                <a:solidFill>
                  <a:srgbClr val="0070C0"/>
                </a:solidFill>
              </a:rPr>
              <a:t>(): String</a:t>
            </a:r>
          </a:p>
          <a:p>
            <a:r>
              <a:rPr lang="en-US" dirty="0" err="1">
                <a:solidFill>
                  <a:srgbClr val="0070C0"/>
                </a:solidFill>
              </a:rPr>
              <a:t>getWindowHandles</a:t>
            </a:r>
            <a:r>
              <a:rPr lang="en-US" dirty="0">
                <a:solidFill>
                  <a:srgbClr val="0070C0"/>
                </a:solidFill>
              </a:rPr>
              <a:t>():set &lt;String&gt;</a:t>
            </a:r>
          </a:p>
          <a:p>
            <a:r>
              <a:rPr lang="en-US" dirty="0">
                <a:solidFill>
                  <a:srgbClr val="0070C0"/>
                </a:solidFill>
              </a:rPr>
              <a:t>https://</a:t>
            </a:r>
            <a:r>
              <a:rPr lang="en-US" dirty="0" err="1">
                <a:solidFill>
                  <a:srgbClr val="0070C0"/>
                </a:solidFill>
              </a:rPr>
              <a:t>www.selenium.dev</a:t>
            </a:r>
            <a:r>
              <a:rPr lang="en-US" dirty="0">
                <a:solidFill>
                  <a:srgbClr val="0070C0"/>
                </a:solidFill>
              </a:rPr>
              <a:t>/selenium/docs/</a:t>
            </a:r>
            <a:r>
              <a:rPr lang="en-US" dirty="0" err="1">
                <a:solidFill>
                  <a:srgbClr val="0070C0"/>
                </a:solidFill>
              </a:rPr>
              <a:t>api</a:t>
            </a:r>
            <a:r>
              <a:rPr lang="en-US" dirty="0">
                <a:solidFill>
                  <a:srgbClr val="0070C0"/>
                </a:solidFill>
              </a:rPr>
              <a:t>/java/org/</a:t>
            </a:r>
            <a:r>
              <a:rPr lang="en-US" dirty="0" err="1">
                <a:solidFill>
                  <a:srgbClr val="0070C0"/>
                </a:solidFill>
              </a:rPr>
              <a:t>openqa</a:t>
            </a:r>
            <a:r>
              <a:rPr lang="en-US" dirty="0">
                <a:solidFill>
                  <a:srgbClr val="0070C0"/>
                </a:solidFill>
              </a:rPr>
              <a:t>/selenium/</a:t>
            </a:r>
            <a:r>
              <a:rPr lang="en-US" dirty="0" err="1">
                <a:solidFill>
                  <a:srgbClr val="0070C0"/>
                </a:solidFill>
              </a:rPr>
              <a:t>WebDriver.html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2642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48F8-689E-E64E-6D19-2DD04D2E9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1.Get(String)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BE988-2054-0846-D76F-15B3799444F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get(</a:t>
            </a:r>
            <a:r>
              <a:rPr lang="en-US" dirty="0" err="1"/>
              <a:t>url</a:t>
            </a:r>
            <a:r>
              <a:rPr lang="en-US" dirty="0"/>
              <a:t>)</a:t>
            </a:r>
          </a:p>
          <a:p>
            <a:r>
              <a:rPr lang="en-US" dirty="0"/>
              <a:t>Return Type : void</a:t>
            </a:r>
          </a:p>
          <a:p>
            <a:r>
              <a:rPr lang="en-US" dirty="0"/>
              <a:t>Similar to </a:t>
            </a:r>
            <a:r>
              <a:rPr lang="en-IN" dirty="0">
                <a:hlinkClick r:id="rId2"/>
              </a:rPr>
              <a:t>WebDriver.Navigation.to(String)</a:t>
            </a:r>
            <a:endParaRPr lang="en-IN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B3820D-16B7-1B13-D1A2-512C68AE7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91" y="3932629"/>
            <a:ext cx="5232400" cy="11303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ADD172-434A-DFCA-4A6F-898E7127BC0C}"/>
              </a:ext>
            </a:extLst>
          </p:cNvPr>
          <p:cNvSpPr/>
          <p:nvPr/>
        </p:nvSpPr>
        <p:spPr>
          <a:xfrm>
            <a:off x="1425039" y="4322618"/>
            <a:ext cx="5106390" cy="29688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440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BE46B-A7CA-DD65-AA8E-85B97248F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823F9-65EB-B13F-0091-3E1EC344728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echo "# </a:t>
            </a:r>
            <a:r>
              <a:rPr lang="en-US" dirty="0" err="1"/>
              <a:t>SeleniumCourse</a:t>
            </a:r>
            <a:r>
              <a:rPr lang="en-US" dirty="0"/>
              <a:t>" &gt;&gt; </a:t>
            </a:r>
            <a:r>
              <a:rPr lang="en-US" dirty="0" err="1"/>
              <a:t>README.md</a:t>
            </a:r>
            <a:endParaRPr lang="en-US" dirty="0"/>
          </a:p>
          <a:p>
            <a:r>
              <a:rPr lang="en-US" dirty="0"/>
              <a:t>git </a:t>
            </a:r>
            <a:r>
              <a:rPr lang="en-US" dirty="0" err="1"/>
              <a:t>init</a:t>
            </a:r>
            <a:endParaRPr lang="en-US" dirty="0"/>
          </a:p>
          <a:p>
            <a:r>
              <a:rPr lang="en-US" dirty="0"/>
              <a:t>git add </a:t>
            </a:r>
            <a:r>
              <a:rPr lang="en-US" dirty="0" err="1"/>
              <a:t>README.md</a:t>
            </a:r>
            <a:endParaRPr lang="en-US" dirty="0"/>
          </a:p>
          <a:p>
            <a:r>
              <a:rPr lang="en-US" dirty="0"/>
              <a:t>git commit -m "first commit"</a:t>
            </a:r>
          </a:p>
          <a:p>
            <a:r>
              <a:rPr lang="en-US" dirty="0"/>
              <a:t>git branch -M main</a:t>
            </a:r>
          </a:p>
          <a:p>
            <a:r>
              <a:rPr lang="en-US" dirty="0"/>
              <a:t>git remote add origin </a:t>
            </a:r>
            <a:r>
              <a:rPr lang="en-US" dirty="0" err="1"/>
              <a:t>git@github.com:rsai-praveen</a:t>
            </a:r>
            <a:r>
              <a:rPr lang="en-US" dirty="0"/>
              <a:t>/</a:t>
            </a:r>
            <a:r>
              <a:rPr lang="en-US" dirty="0" err="1"/>
              <a:t>SeleniumCourse.git</a:t>
            </a:r>
            <a:endParaRPr lang="en-US" dirty="0"/>
          </a:p>
          <a:p>
            <a:r>
              <a:rPr lang="en-US" dirty="0"/>
              <a:t>git push -u origin main</a:t>
            </a:r>
          </a:p>
        </p:txBody>
      </p:sp>
    </p:spTree>
    <p:extLst>
      <p:ext uri="{BB962C8B-B14F-4D97-AF65-F5344CB8AC3E}">
        <p14:creationId xmlns:p14="http://schemas.microsoft.com/office/powerpoint/2010/main" val="2569567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93AB-2A97-4B26-105D-07DE793E8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</a:t>
            </a:r>
            <a:r>
              <a:rPr lang="en-IN" dirty="0"/>
              <a:t> </a:t>
            </a:r>
            <a:r>
              <a:rPr lang="en-IN" dirty="0" err="1"/>
              <a:t>getTitle</a:t>
            </a:r>
            <a:r>
              <a:rPr lang="en-IN" dirty="0"/>
              <a:t>();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A84B4-259A-80E1-3FFA-E065A21ED6A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getTitle</a:t>
            </a:r>
            <a:r>
              <a:rPr lang="en-US" dirty="0"/>
              <a:t>();</a:t>
            </a:r>
          </a:p>
          <a:p>
            <a:r>
              <a:rPr lang="en-US" dirty="0"/>
              <a:t>Return Type : String</a:t>
            </a:r>
          </a:p>
          <a:p>
            <a:r>
              <a:rPr lang="en-US" dirty="0"/>
              <a:t>It gives the Title of the current loaded website where the selenium driver focus exist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A4902-1284-1C82-A2C7-5D2A5356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01" y="3876369"/>
            <a:ext cx="7772400" cy="11240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1860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202F7-3774-7B55-30EB-1E7FFD673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3.getcurrenturl()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DEDC8-1FC8-F912-C393-4A84F11F0CD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err="1"/>
              <a:t>getCurrentUrl</a:t>
            </a:r>
            <a:r>
              <a:rPr lang="en-US" dirty="0"/>
              <a:t>();</a:t>
            </a:r>
          </a:p>
          <a:p>
            <a:r>
              <a:rPr lang="en-US" dirty="0"/>
              <a:t>Return Type : String</a:t>
            </a:r>
          </a:p>
          <a:p>
            <a:r>
              <a:rPr lang="en-US" dirty="0"/>
              <a:t>It gives the URL of the current loaded website where the selenium driver focus exist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B0852-E82F-4EE5-F904-B289DBCAF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012" y="4079145"/>
            <a:ext cx="5156200" cy="1155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00503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EE75F-536E-4D45-03A6-A8E5BA6EB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4.GetPagesource()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ACC44-B552-35B2-1A48-991AF732A7C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err="1"/>
              <a:t>getPageSource</a:t>
            </a:r>
            <a:r>
              <a:rPr lang="en-US" dirty="0"/>
              <a:t>();</a:t>
            </a:r>
          </a:p>
          <a:p>
            <a:r>
              <a:rPr lang="en-US" dirty="0"/>
              <a:t>Return Type: String</a:t>
            </a:r>
          </a:p>
          <a:p>
            <a:r>
              <a:rPr lang="en-US" dirty="0"/>
              <a:t>It give the current HTML page  as String data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75B058-A128-FFA3-8E90-BB85B29CC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64" y="3959931"/>
            <a:ext cx="7772400" cy="16694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86888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3E776-B5A8-A25E-9DA3-1F5A9EA27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5.close()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BECA-6C30-68F9-AA6F-C18858679EB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close();</a:t>
            </a:r>
          </a:p>
          <a:p>
            <a:r>
              <a:rPr lang="en-US" dirty="0"/>
              <a:t>Return Type : Void</a:t>
            </a:r>
          </a:p>
          <a:p>
            <a:r>
              <a:rPr lang="en-US" dirty="0"/>
              <a:t>It closes the current running tab or window but won’t terminate the driver executable.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F9A9E6-2A60-C6D3-6621-130B81C6F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780" y="4079144"/>
            <a:ext cx="4774469" cy="7778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331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4AD5B-A554-11DF-6D4C-B035CA149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14569-1892-55EA-86CF-098124F0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6.quit()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F113-742F-8F87-8AD4-82F56E3905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quit();</a:t>
            </a:r>
          </a:p>
          <a:p>
            <a:r>
              <a:rPr lang="en-US" dirty="0"/>
              <a:t>Return Type : Void</a:t>
            </a:r>
          </a:p>
          <a:p>
            <a:r>
              <a:rPr lang="en-US" dirty="0"/>
              <a:t>It closes the all  running tabs or windows &amp; terminate the driver executable also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1276BD-1858-30FE-C3A3-28413C4FF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780" y="4079144"/>
            <a:ext cx="4774469" cy="7778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35337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F02C7-C726-BF8C-9129-69F91FC90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Locator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573B0-37BD-BBBD-32E8-1BFE021389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By class all methods are static in nature</a:t>
            </a:r>
          </a:p>
        </p:txBody>
      </p:sp>
    </p:spTree>
    <p:extLst>
      <p:ext uri="{BB962C8B-B14F-4D97-AF65-F5344CB8AC3E}">
        <p14:creationId xmlns:p14="http://schemas.microsoft.com/office/powerpoint/2010/main" val="4159232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BF323-1947-FBF8-2AF9-E1FED0482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A3EE-6EC2-96C1-1FD9-4AA8789EBD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Based on attributes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id(String) =&gt; preference 1 &amp; mostly Unique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name(String) =&gt; preference 2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className</a:t>
            </a:r>
            <a:r>
              <a:rPr lang="en-US" dirty="0"/>
              <a:t>(String) =&gt; Not </a:t>
            </a:r>
            <a:r>
              <a:rPr lang="en-US" dirty="0" err="1"/>
              <a:t>Prefered</a:t>
            </a:r>
            <a:r>
              <a:rPr lang="en-US" dirty="0"/>
              <a:t> because same values will exist for Different elements</a:t>
            </a:r>
          </a:p>
          <a:p>
            <a:r>
              <a:rPr lang="en-US" dirty="0"/>
              <a:t>String =&gt; attribute Value in string format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051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92EF0-9667-3C59-E4C6-A433FA744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15589-F0A8-5932-EEB4-FFA586BA25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Based on link text: applicable for link &lt;a&gt; or anchor tag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linkText</a:t>
            </a:r>
            <a:r>
              <a:rPr lang="en-US" dirty="0"/>
              <a:t>(string)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partialLinkText</a:t>
            </a:r>
            <a:r>
              <a:rPr lang="en-US" dirty="0"/>
              <a:t>(String)</a:t>
            </a:r>
          </a:p>
        </p:txBody>
      </p:sp>
    </p:spTree>
    <p:extLst>
      <p:ext uri="{BB962C8B-B14F-4D97-AF65-F5344CB8AC3E}">
        <p14:creationId xmlns:p14="http://schemas.microsoft.com/office/powerpoint/2010/main" val="3410102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CC7C2-E368-621D-53C5-3DC64C40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9A41B-3E8C-B28C-04E9-CE942F57D9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Based on Tag Name</a:t>
            </a:r>
          </a:p>
          <a:p>
            <a:pPr marL="0" indent="0">
              <a:buNone/>
            </a:pPr>
            <a:r>
              <a:rPr lang="en-US" dirty="0" err="1"/>
              <a:t>tagName</a:t>
            </a:r>
            <a:r>
              <a:rPr lang="en-US" dirty="0"/>
              <a:t>(String)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Not suitable for single element focus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Useful to collect single type of </a:t>
            </a:r>
            <a:r>
              <a:rPr lang="en-US" dirty="0" err="1"/>
              <a:t>tagnames</a:t>
            </a:r>
            <a:r>
              <a:rPr lang="en-US" dirty="0"/>
              <a:t> (used mostly with </a:t>
            </a:r>
            <a:r>
              <a:rPr lang="en-US" dirty="0" err="1"/>
              <a:t>findElements</a:t>
            </a:r>
            <a:r>
              <a:rPr lang="en-US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330049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74BF0-215F-5790-81C8-F158F7C4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630A9-9707-35F2-A2A1-AED5C31D8F0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Based on </a:t>
            </a:r>
            <a:r>
              <a:rPr lang="en-US" dirty="0" err="1"/>
              <a:t>tagne</a:t>
            </a:r>
            <a:r>
              <a:rPr lang="en-US" dirty="0"/>
              <a:t> &amp; </a:t>
            </a:r>
            <a:r>
              <a:rPr lang="en-US" dirty="0" err="1"/>
              <a:t>attibutes</a:t>
            </a:r>
            <a:r>
              <a:rPr lang="en-US" dirty="0"/>
              <a:t> or </a:t>
            </a:r>
            <a:r>
              <a:rPr lang="en-US" dirty="0" err="1"/>
              <a:t>tagnames,attributes</a:t>
            </a:r>
            <a:r>
              <a:rPr lang="en-US" dirty="0"/>
              <a:t> &amp;test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xpath</a:t>
            </a:r>
            <a:r>
              <a:rPr lang="en-US" dirty="0"/>
              <a:t>(String)</a:t>
            </a:r>
          </a:p>
          <a:p>
            <a:pPr marL="0" indent="0">
              <a:buNone/>
            </a:pPr>
            <a:r>
              <a:rPr lang="en-US" dirty="0" err="1"/>
              <a:t>Driver.findElement</a:t>
            </a:r>
            <a:r>
              <a:rPr lang="en-US" dirty="0"/>
              <a:t>(</a:t>
            </a:r>
            <a:r>
              <a:rPr lang="en-US" dirty="0" err="1"/>
              <a:t>By.xpath</a:t>
            </a:r>
            <a:r>
              <a:rPr lang="en-US" dirty="0"/>
              <a:t>(“//td[text()=‘Important note:’]”));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cssSelector</a:t>
            </a:r>
            <a:r>
              <a:rPr lang="en-US" dirty="0"/>
              <a:t>(String)</a:t>
            </a:r>
          </a:p>
        </p:txBody>
      </p:sp>
    </p:spTree>
    <p:extLst>
      <p:ext uri="{BB962C8B-B14F-4D97-AF65-F5344CB8AC3E}">
        <p14:creationId xmlns:p14="http://schemas.microsoft.com/office/powerpoint/2010/main" val="3114696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3F2DE-BD58-DDC8-397F-3714E9649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any element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86350-A35B-0E52-62DC-8CD4810C320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Methods in </a:t>
            </a:r>
            <a:r>
              <a:rPr lang="en-US" dirty="0" err="1"/>
              <a:t>webelement</a:t>
            </a:r>
            <a:r>
              <a:rPr lang="en-US" dirty="0"/>
              <a:t>(16+5)</a:t>
            </a:r>
          </a:p>
        </p:txBody>
      </p:sp>
    </p:spTree>
    <p:extLst>
      <p:ext uri="{BB962C8B-B14F-4D97-AF65-F5344CB8AC3E}">
        <p14:creationId xmlns:p14="http://schemas.microsoft.com/office/powerpoint/2010/main" val="590761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70A1-EB32-A2AF-ABD4-B0724250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sendkeys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DC880-E177-B961-F1BE-E7C070AEBAD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webElement.senKeys</a:t>
            </a:r>
            <a:r>
              <a:rPr lang="en-US" dirty="0"/>
              <a:t>(“</a:t>
            </a:r>
            <a:r>
              <a:rPr lang="en-US" dirty="0" err="1"/>
              <a:t>Praveen@gmail.com</a:t>
            </a:r>
            <a:r>
              <a:rPr lang="en-US" dirty="0"/>
              <a:t>”);</a:t>
            </a:r>
          </a:p>
        </p:txBody>
      </p:sp>
    </p:spTree>
    <p:extLst>
      <p:ext uri="{BB962C8B-B14F-4D97-AF65-F5344CB8AC3E}">
        <p14:creationId xmlns:p14="http://schemas.microsoft.com/office/powerpoint/2010/main" val="26568682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09416-B798-CAB7-A720-8402B9278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C3C44-9077-E763-9FEF-3CA16F85670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webElemnet.click</a:t>
            </a:r>
            <a:r>
              <a:rPr lang="en-US" dirty="0"/>
              <a:t>()</a:t>
            </a:r>
          </a:p>
          <a:p>
            <a:r>
              <a:rPr lang="en-US" dirty="0"/>
              <a:t>It performs the click button operation</a:t>
            </a:r>
          </a:p>
        </p:txBody>
      </p:sp>
    </p:spTree>
    <p:extLst>
      <p:ext uri="{BB962C8B-B14F-4D97-AF65-F5344CB8AC3E}">
        <p14:creationId xmlns:p14="http://schemas.microsoft.com/office/powerpoint/2010/main" val="14260590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68D9-664A-4BC4-DA40-082C93B0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39CD9-5F15-1DDD-E376-12D3D72331C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webElement.clear</a:t>
            </a:r>
            <a:r>
              <a:rPr lang="en-US" dirty="0"/>
              <a:t>();</a:t>
            </a:r>
          </a:p>
          <a:p>
            <a:r>
              <a:rPr lang="en-US" dirty="0"/>
              <a:t>It will clear the existing data in </a:t>
            </a:r>
            <a:r>
              <a:rPr lang="en-US" dirty="0" err="1"/>
              <a:t>webelement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803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2A8F-0433-1FFF-ADA8-A4D0017A2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getText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64E42-54E2-69E1-73DB-3124676D31D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webElement.getText</a:t>
            </a:r>
            <a:r>
              <a:rPr lang="en-US" dirty="0"/>
              <a:t>()</a:t>
            </a:r>
          </a:p>
          <a:p>
            <a:r>
              <a:rPr lang="en-US" dirty="0"/>
              <a:t>To get the visible text from website in string format</a:t>
            </a:r>
          </a:p>
        </p:txBody>
      </p:sp>
    </p:spTree>
    <p:extLst>
      <p:ext uri="{BB962C8B-B14F-4D97-AF65-F5344CB8AC3E}">
        <p14:creationId xmlns:p14="http://schemas.microsoft.com/office/powerpoint/2010/main" val="441462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587B-86AF-2C1B-CC58-FB4081FD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getattribute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0F67C-65CF-57A3-18A6-E7ABD480293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Its give the </a:t>
            </a:r>
            <a:r>
              <a:rPr lang="en-US" dirty="0" err="1"/>
              <a:t>vaue</a:t>
            </a:r>
            <a:r>
              <a:rPr lang="en-US" dirty="0"/>
              <a:t> for the attribute present in </a:t>
            </a:r>
            <a:r>
              <a:rPr lang="en-US" dirty="0" err="1"/>
              <a:t>webelement</a:t>
            </a:r>
            <a:endParaRPr lang="en-US" dirty="0"/>
          </a:p>
          <a:p>
            <a:endParaRPr lang="en-US" dirty="0"/>
          </a:p>
          <a:p>
            <a:r>
              <a:rPr lang="en-US" dirty="0"/>
              <a:t>Case1:attribute present</a:t>
            </a:r>
          </a:p>
          <a:p>
            <a:pPr marL="0" indent="0">
              <a:buNone/>
            </a:pPr>
            <a:r>
              <a:rPr lang="en-US" dirty="0"/>
              <a:t>Output: Returns value</a:t>
            </a:r>
          </a:p>
          <a:p>
            <a:r>
              <a:rPr lang="en-US" dirty="0"/>
              <a:t>Case2: attribute is not present</a:t>
            </a:r>
          </a:p>
          <a:p>
            <a:pPr marL="0" indent="0">
              <a:buNone/>
            </a:pPr>
            <a:r>
              <a:rPr lang="en-US" dirty="0"/>
              <a:t>Output: Returns empty String or null</a:t>
            </a:r>
          </a:p>
          <a:p>
            <a:r>
              <a:rPr lang="en-US" dirty="0"/>
              <a:t>Case 3: attribute present but value not assigned(checkbox/radio buttons)</a:t>
            </a:r>
          </a:p>
          <a:p>
            <a:pPr marL="0" indent="0">
              <a:buNone/>
            </a:pPr>
            <a:r>
              <a:rPr lang="en-US" dirty="0"/>
              <a:t>Output: Returns true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599C61-684B-A7C3-E195-301454F78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393" y="2679287"/>
            <a:ext cx="71882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30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26E41-AA02-7900-92C5-036803116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Getcssvalue</a:t>
            </a:r>
            <a:r>
              <a:rPr lang="en-US" dirty="0"/>
              <a:t>(string)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3BAC9-F2E6-877C-1770-163E941E2F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Color value return in format of </a:t>
            </a:r>
            <a:r>
              <a:rPr lang="en-US" dirty="0" err="1"/>
              <a:t>RGBa</a:t>
            </a:r>
            <a:r>
              <a:rPr lang="en-US" dirty="0"/>
              <a:t> instead of HEX value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5C7616-FD8A-CAB6-D278-887E5FC7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925866"/>
            <a:ext cx="72517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825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BFB7C-4CC9-D6D3-653E-F2AED72A3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Getlocation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 err="1"/>
              <a:t>getsize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 err="1"/>
              <a:t>getrect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FFD90-10C6-1E31-6ADB-2F10132525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879CC-5D9E-D7D4-7256-C61842AF6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133" y="2915145"/>
            <a:ext cx="65659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3142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6046</TotalTime>
  <Words>928</Words>
  <Application>Microsoft Macintosh PowerPoint</Application>
  <PresentationFormat>Widescreen</PresentationFormat>
  <Paragraphs>145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Calibri</vt:lpstr>
      <vt:lpstr>Rockwell</vt:lpstr>
      <vt:lpstr>Rockwell Condensed</vt:lpstr>
      <vt:lpstr>Rockwell Extra Bold</vt:lpstr>
      <vt:lpstr>Wingdings</vt:lpstr>
      <vt:lpstr>Wood Type</vt:lpstr>
      <vt:lpstr>Selenium</vt:lpstr>
      <vt:lpstr>Introduction</vt:lpstr>
      <vt:lpstr>PowerPoint Presentation</vt:lpstr>
      <vt:lpstr>Selenium Architecture</vt:lpstr>
      <vt:lpstr>PowerPoint Presentation</vt:lpstr>
      <vt:lpstr>PowerPoint Presentation</vt:lpstr>
      <vt:lpstr>PowerPoint Presentation</vt:lpstr>
      <vt:lpstr>Webdriver methods</vt:lpstr>
      <vt:lpstr>1.Get(String)</vt:lpstr>
      <vt:lpstr>2. </vt:lpstr>
      <vt:lpstr>2. getTitle();</vt:lpstr>
      <vt:lpstr>3.getcurrenturl()</vt:lpstr>
      <vt:lpstr>4.GetPagesource()</vt:lpstr>
      <vt:lpstr>5.close()</vt:lpstr>
      <vt:lpstr>6.quit()</vt:lpstr>
      <vt:lpstr>Locator Techniques</vt:lpstr>
      <vt:lpstr>PowerPoint Presentation</vt:lpstr>
      <vt:lpstr>PowerPoint Presentation</vt:lpstr>
      <vt:lpstr>PowerPoint Presentation</vt:lpstr>
      <vt:lpstr>PowerPoint Presentation</vt:lpstr>
      <vt:lpstr>Actions on any element</vt:lpstr>
      <vt:lpstr>sendkeys</vt:lpstr>
      <vt:lpstr>Click()</vt:lpstr>
      <vt:lpstr>Clear()</vt:lpstr>
      <vt:lpstr>getText()</vt:lpstr>
      <vt:lpstr>getattribute</vt:lpstr>
      <vt:lpstr>Getcssvalue(string)</vt:lpstr>
      <vt:lpstr>Getlocation() getsize() getrect()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Praveen Babu Rajapanthula</dc:creator>
  <cp:lastModifiedBy>Sai Praveen Babu Rajapanthula</cp:lastModifiedBy>
  <cp:revision>7</cp:revision>
  <dcterms:created xsi:type="dcterms:W3CDTF">2026-01-01T15:37:29Z</dcterms:created>
  <dcterms:modified xsi:type="dcterms:W3CDTF">2026-01-22T17:09:44Z</dcterms:modified>
</cp:coreProperties>
</file>